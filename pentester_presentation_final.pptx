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81000" y="1576388"/>
            <a:ext cx="50863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NullByte Security</a:t>
              <a:rPr b="1" lang="ru-RU" sz="2400"/>
            </a:r>
          </a:p>
        </p:txBody>
      </p:sp>
      <p:sp>
        <p:nvSpPr>
          <p:cNvPr id="13" name="Google Shape;13;p3"/>
          <p:cNvSpPr/>
          <p:nvPr/>
        </p:nvSpPr>
        <p:spPr>
          <a:xfrm>
            <a:off x="381000" y="2833688"/>
            <a:ext cx="166211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Пентестер</a:t>
              <a:rPr b="1" lang="ru-RU" sz="1800"/>
            </a:r>
          </a:p>
        </p:txBody>
      </p:sp>
      <p:sp>
        <p:nvSpPr>
          <p:cNvPr id="14" name="Google Shape;14;p3"/>
          <p:cNvSpPr/>
          <p:nvPr/>
        </p:nvSpPr>
        <p:spPr>
          <a:xfrm>
            <a:off x="381000" y="2262188"/>
            <a:ext cx="990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Кибербезопасность</a:t>
              <a:rPr b="0" lang="ru-RU" sz="1600"/>
            </a:r>
          </a:p>
        </p:txBody>
      </p:sp>
      <p:sp>
        <p:nvSpPr>
          <p:cNvPr id="15" name="Google Shape;15;p3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ЭР | Эффективное Развитие</a:t>
              <a:rPr b="0" lang="ru-RU" sz="1200"/>
            </a:r>
          </a:p>
        </p:txBody>
      </p:sp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6775" y="381000"/>
            <a:ext cx="272424" cy="27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525" y="3849174"/>
            <a:ext cx="4571075" cy="4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381000" y="381000"/>
            <a:ext cx="234791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Состав команды</a:t>
              <a:rPr b="1" lang="ru-RU" sz="2000"/>
            </a:r>
          </a:p>
        </p:txBody>
      </p:sp>
      <p:pic>
        <p:nvPicPr>
          <p:cNvPr id="24" name="Google Shape;2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1538" y="1695450"/>
            <a:ext cx="4224338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381000" y="2124075"/>
            <a:ext cx="4076700" cy="1876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381000" y="2124075"/>
            <a:ext cx="1990725" cy="544283"/>
          </a:xfrm>
          <a:prstGeom prst="roundRect">
            <a:avLst>
              <a:gd name="adj" fmla="val 33600"/>
            </a:avLst>
          </a:prstGeom>
          <a:solidFill>
            <a:srgbClr val="197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00063" y="2219325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Фамилия Имя Отчество</a:t>
              <a:rPr b="1" lang="ru-RU" sz="1400"/>
            </a:r>
          </a:p>
        </p:txBody>
      </p:sp>
      <p:sp>
        <p:nvSpPr>
          <p:cNvPr id="28" name="Google Shape;28;p4"/>
          <p:cNvSpPr/>
          <p:nvPr/>
        </p:nvSpPr>
        <p:spPr>
          <a:xfrm>
            <a:off x="500063" y="2439758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Тимлид команды</a:t>
              <a:rPr b="0" lang="ru-RU" sz="1200"/>
            </a:r>
          </a:p>
        </p:txBody>
      </p:sp>
      <p:sp>
        <p:nvSpPr>
          <p:cNvPr id="29" name="Google Shape;29;p4"/>
          <p:cNvSpPr/>
          <p:nvPr/>
        </p:nvSpPr>
        <p:spPr>
          <a:xfrm>
            <a:off x="2705100" y="2219270"/>
            <a:ext cx="1752600" cy="35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705100" y="2219270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Иванов Иван Иванович</a:t>
              <a:rPr b="0" lang="ru-RU" sz="1400"/>
            </a:r>
          </a:p>
        </p:txBody>
      </p:sp>
      <p:sp>
        <p:nvSpPr>
          <p:cNvPr id="31" name="Google Shape;31;p4"/>
          <p:cNvSpPr/>
          <p:nvPr/>
        </p:nvSpPr>
        <p:spPr>
          <a:xfrm>
            <a:off x="2705100" y="2439703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Аналитик безопасности</a:t>
              <a:rPr b="0" lang="ru-RU" sz="1200"/>
            </a:r>
          </a:p>
        </p:txBody>
      </p:sp>
      <p:sp>
        <p:nvSpPr>
          <p:cNvPr id="32" name="Google Shape;32;p4"/>
          <p:cNvSpPr/>
          <p:nvPr/>
        </p:nvSpPr>
        <p:spPr>
          <a:xfrm>
            <a:off x="381000" y="2980616"/>
            <a:ext cx="1990725" cy="35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0063" y="2980616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Петров Петр Петрович</a:t>
              <a:rPr b="0" lang="ru-RU" sz="1400"/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500063" y="3201049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Специалист по сетевой безопасности</a:t>
              <a:rPr b="0" lang="ru-RU" sz="1200"/>
            </a:r>
          </a:p>
        </p:txBody>
      </p:sp>
      <p:sp>
        <p:nvSpPr>
          <p:cNvPr id="35" name="Google Shape;35;p4"/>
          <p:cNvSpPr/>
          <p:nvPr/>
        </p:nvSpPr>
        <p:spPr>
          <a:xfrm>
            <a:off x="2705100" y="2980616"/>
            <a:ext cx="1752600" cy="35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05100" y="2980616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Сидоров Сидор Сидорович</a:t>
              <a:rPr b="0" lang="ru-RU" sz="1400"/>
            </a:r>
          </a:p>
        </p:txBody>
      </p:sp>
      <p:sp>
        <p:nvSpPr>
          <p:cNvPr id="37" name="Google Shape;37;p4"/>
          <p:cNvSpPr/>
          <p:nvPr/>
        </p:nvSpPr>
        <p:spPr>
          <a:xfrm>
            <a:off x="2705100" y="3201049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Специалист по Web-приложениям</a:t>
              <a:rPr b="0" lang="ru-RU" sz="1200"/>
            </a:r>
          </a:p>
        </p:txBody>
      </p:sp>
      <p:sp>
        <p:nvSpPr>
          <p:cNvPr id="38" name="Google Shape;38;p4"/>
          <p:cNvSpPr/>
          <p:nvPr/>
        </p:nvSpPr>
        <p:spPr>
          <a:xfrm>
            <a:off x="381000" y="3646766"/>
            <a:ext cx="1990725" cy="35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0063" y="3646766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Козлов Козел Козлович</a:t>
              <a:rPr b="0" lang="ru-RU" sz="1400"/>
            </a:r>
          </a:p>
        </p:txBody>
      </p:sp>
      <p:sp>
        <p:nvSpPr>
          <p:cNvPr id="40" name="Google Shape;40;p4"/>
          <p:cNvSpPr/>
          <p:nvPr/>
        </p:nvSpPr>
        <p:spPr>
          <a:xfrm>
            <a:off x="500063" y="3867199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Специалист по инфраструктуре</a:t>
              <a:rPr b="0" lang="ru-RU" sz="1200"/>
            </a:r>
          </a:p>
        </p:txBody>
      </p:sp>
      <p:sp>
        <p:nvSpPr>
          <p:cNvPr id="41" name="Google Shape;41;p4"/>
          <p:cNvSpPr/>
          <p:nvPr/>
        </p:nvSpPr>
        <p:spPr>
          <a:xfrm>
            <a:off x="2705100" y="3646766"/>
            <a:ext cx="1752600" cy="35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705100" y="3646766"/>
            <a:ext cx="175260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48"/>
              </a:lnSpc>
              <a:spcBef>
                <a:spcPts val="0"/>
              </a:spcBef>
              <a:spcAft>
                <a:spcPts val="0"/>
              </a:spcAft>
              <a:buClr>
                <a:srgbClr val="003288"/>
              </a:buClr>
              <a:buSzPts val="1168"/>
              <a:buFont typeface="Arial"/>
              <a:buNone/>
            </a:pPr>
            <a:r>
              <a:rPr lang="en-US" sz="1168">
                <a:solidFill>
                  <a:srgbClr val="003288"/>
                </a:solidFill>
                <a:latin typeface="Arial"/>
                <a:ea typeface="Arial"/>
                <a:cs typeface="Arial"/>
                <a:sym typeface="Arial"/>
              </a:rPr>
              <a:t>Фамилия Имя Отчество</a:t>
            </a:r>
            <a:endParaRPr sz="11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705100" y="3867199"/>
            <a:ext cx="1752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Специалист по инфраструктуре</a:t>
              <a:rPr b="0" lang="ru-RU" sz="1200"/>
            </a:r>
          </a:p>
        </p:txBody>
      </p:sp>
      <p:pic>
        <p:nvPicPr>
          <p:cNvPr id="44" name="Google Shape;4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6775" y="381000"/>
            <a:ext cx="272423" cy="27545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288"/>
              </a:buClr>
              <a:buSzPts val="713"/>
              <a:buFont typeface="Arial"/>
              <a:buNone/>
            </a:pPr>
            <a:r>
              <a:rPr lang="en-US" sz="713">
                <a:solidFill>
                  <a:srgbClr val="003288"/>
                </a:solidFill>
                <a:latin typeface="Arial"/>
                <a:ea typeface="Arial"/>
                <a:cs typeface="Arial"/>
                <a:sym typeface="Arial"/>
              </a:rPr>
              <a:t>ЭР | Эффективное Развитие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381000" y="381000"/>
            <a:ext cx="45767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Какие технологии использовали</a:t>
              <a:rPr b="1" lang="ru-RU" sz="2000"/>
            </a:r>
          </a:p>
        </p:txBody>
      </p:sp>
      <p:sp>
        <p:nvSpPr>
          <p:cNvPr id="52" name="Google Shape;52;p5"/>
          <p:cNvSpPr/>
          <p:nvPr/>
        </p:nvSpPr>
        <p:spPr>
          <a:xfrm>
            <a:off x="381000" y="156210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81000" y="156210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81000" y="1562100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Kali Linux</a:t>
              <a:rPr b="1" lang="ru-RU" sz="1400"/>
            </a:r>
          </a:p>
        </p:txBody>
      </p:sp>
      <p:sp>
        <p:nvSpPr>
          <p:cNvPr id="55" name="Google Shape;55;p5"/>
          <p:cNvSpPr/>
          <p:nvPr/>
        </p:nvSpPr>
        <p:spPr>
          <a:xfrm>
            <a:off x="381000" y="1890713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Операционная система для пентеста</a:t>
              <a:rPr b="0" lang="ru-RU" sz="1200"/>
            </a:r>
          </a:p>
        </p:txBody>
      </p:sp>
      <p:sp>
        <p:nvSpPr>
          <p:cNvPr id="56" name="Google Shape;56;p5"/>
          <p:cNvSpPr/>
          <p:nvPr/>
        </p:nvSpPr>
        <p:spPr>
          <a:xfrm>
            <a:off x="381000" y="253365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81000" y="253365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81000" y="2533650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Nmap</a:t>
              <a:rPr b="1" lang="ru-RU" sz="1400"/>
            </a:r>
          </a:p>
        </p:txBody>
      </p:sp>
      <p:sp>
        <p:nvSpPr>
          <p:cNvPr id="59" name="Google Shape;59;p5"/>
          <p:cNvSpPr/>
          <p:nvPr/>
        </p:nvSpPr>
        <p:spPr>
          <a:xfrm>
            <a:off x="381000" y="2862263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Сканирование сетей и портов</a:t>
              <a:rPr b="0" lang="ru-RU" sz="1200"/>
            </a:r>
          </a:p>
        </p:txBody>
      </p:sp>
      <p:sp>
        <p:nvSpPr>
          <p:cNvPr id="60" name="Google Shape;60;p5"/>
          <p:cNvSpPr/>
          <p:nvPr/>
        </p:nvSpPr>
        <p:spPr>
          <a:xfrm>
            <a:off x="381000" y="3509963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81000" y="3509963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81000" y="3509963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Burp Suite</a:t>
              <a:rPr b="1" lang="ru-RU" sz="1400"/>
            </a:r>
          </a:p>
        </p:txBody>
      </p:sp>
      <p:sp>
        <p:nvSpPr>
          <p:cNvPr id="63" name="Google Shape;63;p5"/>
          <p:cNvSpPr/>
          <p:nvPr/>
        </p:nvSpPr>
        <p:spPr>
          <a:xfrm>
            <a:off x="381000" y="3838575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Тестирование Web-приложений</a:t>
              <a:rPr b="0" lang="ru-RU" sz="1200"/>
            </a:r>
          </a:p>
        </p:txBody>
      </p:sp>
      <p:pic>
        <p:nvPicPr>
          <p:cNvPr id="64" name="Google Shape;6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6775" y="381000"/>
            <a:ext cx="272423" cy="27545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288"/>
              </a:buClr>
              <a:buSzPts val="713"/>
              <a:buFont typeface="Arial"/>
              <a:buNone/>
            </a:pPr>
            <a:r>
              <a:rPr lang="en-US" sz="713">
                <a:solidFill>
                  <a:srgbClr val="003288"/>
                </a:solidFill>
                <a:latin typeface="Arial"/>
                <a:ea typeface="Arial"/>
                <a:cs typeface="Arial"/>
                <a:sym typeface="Arial"/>
              </a:rPr>
              <a:t>ЭР | Эффективное Развитие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381000" y="381000"/>
            <a:ext cx="5181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 какими сложностями столкнулись</a:t>
              <a:rPr b="1" lang="ru-RU" sz="2000"/>
            </a:r>
          </a:p>
        </p:txBody>
      </p:sp>
      <p:pic>
        <p:nvPicPr>
          <p:cNvPr id="72" name="Google Shape;72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6775" y="381000"/>
            <a:ext cx="272422" cy="2754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288"/>
              </a:buClr>
              <a:buSzPts val="713"/>
              <a:buFont typeface="Arial"/>
              <a:buNone/>
            </a:pPr>
            <a:r>
              <a:rPr lang="en-US" sz="713">
                <a:solidFill>
                  <a:srgbClr val="003288"/>
                </a:solidFill>
                <a:latin typeface="Arial"/>
                <a:ea typeface="Arial"/>
                <a:cs typeface="Arial"/>
                <a:sym typeface="Arial"/>
              </a:rPr>
              <a:t>ЭР | Эффективное Развитие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81000" y="156210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81000" y="156210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81000" y="1562100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Сложная инфраструктура</a:t>
              <a:rPr b="1" lang="ru-RU" sz="1400"/>
            </a:r>
          </a:p>
        </p:txBody>
      </p:sp>
      <p:sp>
        <p:nvSpPr>
          <p:cNvPr id="77" name="Google Shape;77;p6"/>
          <p:cNvSpPr/>
          <p:nvPr/>
        </p:nvSpPr>
        <p:spPr>
          <a:xfrm>
            <a:off x="381000" y="1890713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Многоуровневая архитектура с различными системами защиты</a:t>
              <a:rPr b="0" lang="ru-RU" sz="1200"/>
            </a:r>
          </a:p>
        </p:txBody>
      </p:sp>
      <p:sp>
        <p:nvSpPr>
          <p:cNvPr id="78" name="Google Shape;78;p6"/>
          <p:cNvSpPr/>
          <p:nvPr/>
        </p:nvSpPr>
        <p:spPr>
          <a:xfrm>
            <a:off x="381000" y="253365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81000" y="2533650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81000" y="2533650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Ограниченное время</a:t>
              <a:rPr b="1" lang="ru-RU" sz="1400"/>
            </a:r>
          </a:p>
        </p:txBody>
      </p:sp>
      <p:sp>
        <p:nvSpPr>
          <p:cNvPr id="81" name="Google Shape;81;p6"/>
          <p:cNvSpPr/>
          <p:nvPr/>
        </p:nvSpPr>
        <p:spPr>
          <a:xfrm>
            <a:off x="381000" y="2862263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Необходимо провести полный аудит в сжатые сроки</a:t>
              <a:rPr b="0" lang="ru-RU" sz="1200"/>
            </a:r>
          </a:p>
        </p:txBody>
      </p:sp>
      <p:sp>
        <p:nvSpPr>
          <p:cNvPr id="82" name="Google Shape;82;p6"/>
          <p:cNvSpPr/>
          <p:nvPr/>
        </p:nvSpPr>
        <p:spPr>
          <a:xfrm>
            <a:off x="381000" y="3509963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81000" y="3509963"/>
            <a:ext cx="4948238" cy="69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81000" y="3509963"/>
            <a:ext cx="552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Нестандартные уязвимости</a:t>
              <a:rPr b="1" lang="ru-RU" sz="1400"/>
            </a:r>
          </a:p>
        </p:txBody>
      </p:sp>
      <p:sp>
        <p:nvSpPr>
          <p:cNvPr id="85" name="Google Shape;85;p6"/>
          <p:cNvSpPr/>
          <p:nvPr/>
        </p:nvSpPr>
        <p:spPr>
          <a:xfrm>
            <a:off x="381000" y="3838575"/>
            <a:ext cx="494823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Кастомные решения требуют нестандартного подхода</a:t>
              <a:rPr b="0" lang="ru-RU" sz="1200"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381000" y="381000"/>
            <a:ext cx="1423988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Результат</a:t>
              <a:rPr b="1" lang="ru-RU" sz="2000"/>
            </a:r>
          </a:p>
        </p:txBody>
      </p:sp>
      <p:sp>
        <p:nvSpPr>
          <p:cNvPr id="92" name="Google Shape;92;p7"/>
          <p:cNvSpPr/>
          <p:nvPr/>
        </p:nvSpPr>
        <p:spPr>
          <a:xfrm>
            <a:off x="3138488" y="1133475"/>
            <a:ext cx="3162300" cy="3162300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3810000" y="2347913"/>
            <a:ext cx="1824038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Результаты пентеста:
• Обнаружено 12 критических уязвимостей
• 8 высокорисковых уязвимостей
• 15 среднерисковых уязвимостей
• 23 низкорисковых уязвимостей
Рекомендации:
• Внедрение WAF
• Обновление ПО
• Настройка мониторинга
• Обучение персонала</a:t>
              <a:rPr b="0" lang="ru-RU" sz="1200"/>
            </a:r>
          </a:p>
        </p:txBody>
      </p:sp>
      <p:pic>
        <p:nvPicPr>
          <p:cNvPr id="94" name="Google Shape;9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6775" y="381000"/>
            <a:ext cx="272422" cy="2754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381000" y="464820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288"/>
              </a:buClr>
              <a:buSzPts val="713"/>
              <a:buFont typeface="Arial"/>
              <a:buNone/>
            </a:pPr>
            <a:r>
              <a:rPr lang="en-US" sz="713">
                <a:solidFill>
                  <a:srgbClr val="003288"/>
                </a:solidFill>
                <a:latin typeface="Arial"/>
                <a:ea typeface="Arial"/>
                <a:cs typeface="Arial"/>
                <a:sym typeface="Arial"/>
              </a:rPr>
              <a:t>ЭР | Эффективное Развитие</a:t>
            </a:r>
            <a:endParaRPr sz="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5</Slides>
  <Notes>5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Кирилл Коробейников</cp:lastModifiedBy>
  <cp:revision>1</cp:revision>
  <dcterms:modified xsi:type="dcterms:W3CDTF">2026-06-24T09:05:48Z</dcterms:modified>
</cp:coreProperties>
</file>